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7" r:id="rId2"/>
    <p:sldId id="256" r:id="rId3"/>
    <p:sldId id="268" r:id="rId4"/>
    <p:sldId id="26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8063" autoAdjust="0"/>
  </p:normalViewPr>
  <p:slideViewPr>
    <p:cSldViewPr snapToGrid="0">
      <p:cViewPr varScale="1">
        <p:scale>
          <a:sx n="52" d="100"/>
          <a:sy n="52" d="100"/>
        </p:scale>
        <p:origin x="17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5B260-2736-4AE3-B99C-8D487B56EF1F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39C31D-4D3A-41AB-B917-22E6CC67BE4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526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39C31D-4D3A-41AB-B917-22E6CC67BE4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7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EA7D7-C7F3-478A-8A4C-FF7D1D2BF4D3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1696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8EA7D7-C7F3-478A-8A4C-FF7D1D2BF4D3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2614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A698B-342A-4771-86C6-792FDCAE8D7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DBDE2-2C12-4CEA-9E98-C84C9E0CC55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752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A698B-342A-4771-86C6-792FDCAE8D7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DBDE2-2C12-4CEA-9E98-C84C9E0CC55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64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A698B-342A-4771-86C6-792FDCAE8D7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DBDE2-2C12-4CEA-9E98-C84C9E0CC55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477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A698B-342A-4771-86C6-792FDCAE8D7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DBDE2-2C12-4CEA-9E98-C84C9E0CC55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318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A698B-342A-4771-86C6-792FDCAE8D7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DBDE2-2C12-4CEA-9E98-C84C9E0CC55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059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A698B-342A-4771-86C6-792FDCAE8D7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DBDE2-2C12-4CEA-9E98-C84C9E0CC55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23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A698B-342A-4771-86C6-792FDCAE8D7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DBDE2-2C12-4CEA-9E98-C84C9E0CC55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625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A698B-342A-4771-86C6-792FDCAE8D7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DBDE2-2C12-4CEA-9E98-C84C9E0CC55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763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A698B-342A-4771-86C6-792FDCAE8D7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DBDE2-2C12-4CEA-9E98-C84C9E0CC55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369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A698B-342A-4771-86C6-792FDCAE8D7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DBDE2-2C12-4CEA-9E98-C84C9E0CC55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30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A698B-342A-4771-86C6-792FDCAE8D7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DBDE2-2C12-4CEA-9E98-C84C9E0CC55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146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A698B-342A-4771-86C6-792FDCAE8D78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DBDE2-2C12-4CEA-9E98-C84C9E0CC55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647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iencedirect.com/science/article/pii/S2667102622000754?via%3Dihub#bib0036" TargetMode="External"/><Relationship Id="rId3" Type="http://schemas.openxmlformats.org/officeDocument/2006/relationships/hyperlink" Target="https://www.sciencedirect.com/science/article/pii/S2667102622000754?via%3Dihub#bib0028" TargetMode="External"/><Relationship Id="rId7" Type="http://schemas.openxmlformats.org/officeDocument/2006/relationships/hyperlink" Target="https://www.sciencedirect.com/science/article/pii/S2667102622000754?via%3Dihub#bib0035" TargetMode="External"/><Relationship Id="rId2" Type="http://schemas.openxmlformats.org/officeDocument/2006/relationships/hyperlink" Target="https://www.sciencedirect.com/science/article/pii/S2667102622000754?via%3Dihub#bib003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encedirect.com/science/article/pii/S2667102622000754?via%3Dihub#bib0034" TargetMode="External"/><Relationship Id="rId5" Type="http://schemas.openxmlformats.org/officeDocument/2006/relationships/hyperlink" Target="https://www.sciencedirect.com/science/article/pii/S2667102622000754?via%3Dihub#bib0033" TargetMode="External"/><Relationship Id="rId10" Type="http://schemas.openxmlformats.org/officeDocument/2006/relationships/hyperlink" Target="https://www.sciencedirect.com/science/article/pii/S2667102622000754?via%3Dihub#bib0037" TargetMode="External"/><Relationship Id="rId4" Type="http://schemas.openxmlformats.org/officeDocument/2006/relationships/hyperlink" Target="https://www.sciencedirect.com/science/article/pii/S2667102622000754?via%3Dihub#bib0032" TargetMode="External"/><Relationship Id="rId9" Type="http://schemas.openxmlformats.org/officeDocument/2006/relationships/hyperlink" Target="https://www.sciencedirect.com/science/article/pii/S2667102622000754?via%3Dihub#bib002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11237"/>
          </a:xfrm>
        </p:spPr>
        <p:txBody>
          <a:bodyPr/>
          <a:lstStyle/>
          <a:p>
            <a:r>
              <a:rPr lang="en-US" dirty="0" smtClean="0"/>
              <a:t>Classification approaches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855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Classification approaches SOA</a:t>
            </a:r>
            <a:br>
              <a:rPr lang="en-US" dirty="0" smtClean="0"/>
            </a:b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TABLEAU COMPARATIVE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/>
          </p:nvPr>
        </p:nvGraphicFramePr>
        <p:xfrm>
          <a:off x="838200" y="1825625"/>
          <a:ext cx="10515600" cy="4254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08189962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59952598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9911582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85769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7749103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79938401"/>
                    </a:ext>
                  </a:extLst>
                </a:gridCol>
              </a:tblGrid>
              <a:tr h="89964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Machine Learning </a:t>
                      </a:r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Clustering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Deep learning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Ensemble Learning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Pertained Models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6728539"/>
                  </a:ext>
                </a:extLst>
              </a:tr>
              <a:tr h="610129">
                <a:tc>
                  <a:txBody>
                    <a:bodyPr/>
                    <a:lstStyle/>
                    <a:p>
                      <a:r>
                        <a:rPr lang="en-US" dirty="0" smtClean="0"/>
                        <a:t>Preprocessing</a:t>
                      </a:r>
                      <a:endParaRPr lang="en-US" dirty="0"/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457200" indent="-457200" algn="ctr">
                        <a:buFont typeface="Wingdings" panose="05000000000000000000" pitchFamily="2" charset="2"/>
                        <a:buChar char="ü"/>
                      </a:pPr>
                      <a:r>
                        <a:rPr lang="en-US" sz="1400" dirty="0" smtClean="0"/>
                        <a:t>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ü"/>
                      </a:pPr>
                      <a:r>
                        <a:rPr lang="en-US" sz="1400" dirty="0" smtClean="0"/>
                        <a:t>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ü"/>
                      </a:pPr>
                      <a:r>
                        <a:rPr lang="en-US" sz="1400" dirty="0" smtClean="0"/>
                        <a:t>(Data</a:t>
                      </a:r>
                      <a:r>
                        <a:rPr lang="en-US" sz="1400" baseline="0" dirty="0" smtClean="0"/>
                        <a:t> augmentation)</a:t>
                      </a:r>
                      <a:r>
                        <a:rPr lang="en-US" sz="1400" dirty="0" smtClean="0"/>
                        <a:t>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ü"/>
                      </a:pPr>
                      <a:r>
                        <a:rPr lang="en-US" sz="1400" dirty="0" smtClean="0"/>
                        <a:t>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 smtClean="0"/>
                        <a:t>???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575090"/>
                  </a:ext>
                </a:extLst>
              </a:tr>
              <a:tr h="610129">
                <a:tc>
                  <a:txBody>
                    <a:bodyPr/>
                    <a:lstStyle/>
                    <a:p>
                      <a:r>
                        <a:rPr lang="en-US" dirty="0" smtClean="0"/>
                        <a:t>Segmentation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ü"/>
                      </a:pPr>
                      <a:r>
                        <a:rPr lang="en-US" sz="1400" baseline="0" dirty="0" smtClean="0"/>
                        <a:t>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ü"/>
                      </a:pPr>
                      <a:r>
                        <a:rPr lang="en-US" sz="1400" dirty="0" smtClean="0"/>
                        <a:t>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US" sz="1400" dirty="0" smtClean="0"/>
                        <a:t>X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US" sz="1400" dirty="0" smtClean="0"/>
                        <a:t>Depend</a:t>
                      </a:r>
                      <a:r>
                        <a:rPr lang="en-US" sz="1400" baseline="0" dirty="0" smtClean="0"/>
                        <a:t> on models used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 smtClean="0"/>
                        <a:t>???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7190424"/>
                  </a:ext>
                </a:extLst>
              </a:tr>
              <a:tr h="610129">
                <a:tc>
                  <a:txBody>
                    <a:bodyPr/>
                    <a:lstStyle/>
                    <a:p>
                      <a:r>
                        <a:rPr lang="en-US" dirty="0" smtClean="0"/>
                        <a:t>Feature</a:t>
                      </a:r>
                      <a:r>
                        <a:rPr lang="en-US" baseline="0" dirty="0" smtClean="0"/>
                        <a:t> extraction and selection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ü"/>
                      </a:pPr>
                      <a:r>
                        <a:rPr lang="en-US" sz="1400" dirty="0" smtClean="0"/>
                        <a:t>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ü"/>
                      </a:pPr>
                      <a:r>
                        <a:rPr lang="en-US" sz="1400" dirty="0" smtClean="0"/>
                        <a:t>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US" sz="1400" dirty="0" smtClean="0"/>
                        <a:t>X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US" sz="1400" dirty="0" smtClean="0"/>
                        <a:t>Depend</a:t>
                      </a:r>
                      <a:r>
                        <a:rPr lang="en-US" sz="1400" baseline="0" dirty="0" smtClean="0"/>
                        <a:t> on models used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 smtClean="0"/>
                        <a:t>???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752432"/>
                  </a:ext>
                </a:extLst>
              </a:tr>
              <a:tr h="610129">
                <a:tc>
                  <a:txBody>
                    <a:bodyPr/>
                    <a:lstStyle/>
                    <a:p>
                      <a:r>
                        <a:rPr lang="en-US" dirty="0" smtClean="0"/>
                        <a:t>Model building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ü"/>
                      </a:pPr>
                      <a:r>
                        <a:rPr lang="en-US" sz="1400" dirty="0" smtClean="0"/>
                        <a:t>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ü"/>
                      </a:pPr>
                      <a:r>
                        <a:rPr lang="en-US" sz="1400" dirty="0" smtClean="0"/>
                        <a:t>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ü"/>
                      </a:pPr>
                      <a:r>
                        <a:rPr lang="en-US" sz="1400" dirty="0" smtClean="0"/>
                        <a:t>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ü"/>
                      </a:pPr>
                      <a:r>
                        <a:rPr lang="en-US" sz="1400" dirty="0" smtClean="0"/>
                        <a:t>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 smtClean="0"/>
                        <a:t>???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014408"/>
                  </a:ext>
                </a:extLst>
              </a:tr>
              <a:tr h="610129">
                <a:tc>
                  <a:txBody>
                    <a:bodyPr/>
                    <a:lstStyle/>
                    <a:p>
                      <a:r>
                        <a:rPr lang="en-US" dirty="0" smtClean="0"/>
                        <a:t>Model training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ü"/>
                      </a:pPr>
                      <a:r>
                        <a:rPr lang="en-US" sz="1400" dirty="0" smtClean="0"/>
                        <a:t>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US" sz="1400" dirty="0" smtClean="0"/>
                        <a:t>X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ü"/>
                      </a:pPr>
                      <a:r>
                        <a:rPr lang="en-US" sz="1400" dirty="0" smtClean="0"/>
                        <a:t>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ü"/>
                      </a:pPr>
                      <a:r>
                        <a:rPr lang="en-US" sz="1400" dirty="0" smtClean="0"/>
                        <a:t>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6717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0876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Deeplearning</a:t>
            </a:r>
            <a:r>
              <a:rPr lang="en-US" dirty="0" smtClean="0"/>
              <a:t> </a:t>
            </a:r>
            <a:r>
              <a:rPr lang="en-US" dirty="0" err="1" smtClean="0"/>
              <a:t>vs</a:t>
            </a:r>
            <a:r>
              <a:rPr lang="en-US" dirty="0" smtClean="0"/>
              <a:t> traditional AI </a:t>
            </a:r>
            <a:endParaRPr lang="en-US" dirty="0"/>
          </a:p>
        </p:txBody>
      </p:sp>
      <p:sp>
        <p:nvSpPr>
          <p:cNvPr id="5" name="Right Arrow 4"/>
          <p:cNvSpPr/>
          <p:nvPr/>
        </p:nvSpPr>
        <p:spPr>
          <a:xfrm>
            <a:off x="1354182" y="2664822"/>
            <a:ext cx="2299063" cy="5747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/>
          <p:cNvSpPr/>
          <p:nvPr/>
        </p:nvSpPr>
        <p:spPr>
          <a:xfrm>
            <a:off x="6095999" y="2638695"/>
            <a:ext cx="2299063" cy="5747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loud 6"/>
          <p:cNvSpPr/>
          <p:nvPr/>
        </p:nvSpPr>
        <p:spPr>
          <a:xfrm>
            <a:off x="3777342" y="1776546"/>
            <a:ext cx="2194560" cy="2351315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DL AI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345474" y="2254344"/>
            <a:ext cx="1750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INPUT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245530" y="2138734"/>
            <a:ext cx="1750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24295" y="3947833"/>
            <a:ext cx="43597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requires a lot of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high abstraction about output/features (</a:t>
            </a:r>
            <a:r>
              <a:rPr lang="en-US" dirty="0"/>
              <a:t>need more </a:t>
            </a:r>
            <a:r>
              <a:rPr lang="en-US" dirty="0" smtClean="0"/>
              <a:t>research)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Computationally complexes and expensive.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531303" y="4183148"/>
            <a:ext cx="6929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CNN </a:t>
            </a:r>
            <a:r>
              <a:rPr lang="en-US" dirty="0"/>
              <a:t>models generate high-precision output and are eﬃcient in</a:t>
            </a:r>
          </a:p>
          <a:p>
            <a:r>
              <a:rPr lang="en-US" dirty="0"/>
              <a:t>solving complex problems. They can be applied using diﬀerent </a:t>
            </a:r>
            <a:r>
              <a:rPr lang="en-US" dirty="0" err="1"/>
              <a:t>mathe</a:t>
            </a:r>
            <a:r>
              <a:rPr lang="en-US" dirty="0"/>
              <a:t>-</a:t>
            </a:r>
          </a:p>
          <a:p>
            <a:r>
              <a:rPr lang="en-US" dirty="0" err="1"/>
              <a:t>matical</a:t>
            </a:r>
            <a:r>
              <a:rPr lang="en-US" dirty="0"/>
              <a:t> learning methods [11].</a:t>
            </a:r>
          </a:p>
        </p:txBody>
      </p:sp>
      <p:pic>
        <p:nvPicPr>
          <p:cNvPr id="12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741490" y="922679"/>
            <a:ext cx="4330148" cy="256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566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000" b="1" dirty="0" smtClean="0"/>
              <a:t>Comparaison de performance</a:t>
            </a:r>
            <a:endParaRPr lang="fr-FR" sz="4000" b="1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3038021"/>
              </p:ext>
            </p:extLst>
          </p:nvPr>
        </p:nvGraphicFramePr>
        <p:xfrm>
          <a:off x="1841090" y="2029901"/>
          <a:ext cx="7978800" cy="43513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8304">
                  <a:extLst>
                    <a:ext uri="{9D8B030D-6E8A-4147-A177-3AD203B41FA5}">
                      <a16:colId xmlns:a16="http://schemas.microsoft.com/office/drawing/2014/main" val="2578439100"/>
                    </a:ext>
                  </a:extLst>
                </a:gridCol>
                <a:gridCol w="1622356">
                  <a:extLst>
                    <a:ext uri="{9D8B030D-6E8A-4147-A177-3AD203B41FA5}">
                      <a16:colId xmlns:a16="http://schemas.microsoft.com/office/drawing/2014/main" val="3406850717"/>
                    </a:ext>
                  </a:extLst>
                </a:gridCol>
                <a:gridCol w="638304">
                  <a:extLst>
                    <a:ext uri="{9D8B030D-6E8A-4147-A177-3AD203B41FA5}">
                      <a16:colId xmlns:a16="http://schemas.microsoft.com/office/drawing/2014/main" val="3550840494"/>
                    </a:ext>
                  </a:extLst>
                </a:gridCol>
                <a:gridCol w="638304">
                  <a:extLst>
                    <a:ext uri="{9D8B030D-6E8A-4147-A177-3AD203B41FA5}">
                      <a16:colId xmlns:a16="http://schemas.microsoft.com/office/drawing/2014/main" val="27273151"/>
                    </a:ext>
                  </a:extLst>
                </a:gridCol>
                <a:gridCol w="2220766">
                  <a:extLst>
                    <a:ext uri="{9D8B030D-6E8A-4147-A177-3AD203B41FA5}">
                      <a16:colId xmlns:a16="http://schemas.microsoft.com/office/drawing/2014/main" val="3236783718"/>
                    </a:ext>
                  </a:extLst>
                </a:gridCol>
                <a:gridCol w="2220766">
                  <a:extLst>
                    <a:ext uri="{9D8B030D-6E8A-4147-A177-3AD203B41FA5}">
                      <a16:colId xmlns:a16="http://schemas.microsoft.com/office/drawing/2014/main" val="196836895"/>
                    </a:ext>
                  </a:extLst>
                </a:gridCol>
              </a:tblGrid>
              <a:tr h="475185"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Reference</a:t>
                      </a:r>
                      <a:endParaRPr lang="fr-FR" sz="1000" b="1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Methods</a:t>
                      </a:r>
                      <a:endParaRPr lang="fr-FR" sz="1000" b="1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Dataset</a:t>
                      </a:r>
                      <a:endParaRPr lang="fr-FR" sz="1000" b="1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Accuracy (%)</a:t>
                      </a:r>
                      <a:endParaRPr lang="fr-FR" sz="1000" b="1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Sensitivity (%)</a:t>
                      </a:r>
                      <a:endParaRPr lang="fr-FR" sz="1000" b="1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Specificity (%)</a:t>
                      </a:r>
                      <a:endParaRPr lang="fr-FR" sz="1000" b="1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extLst>
                  <a:ext uri="{0D108BD9-81ED-4DB2-BD59-A6C34878D82A}">
                    <a16:rowId xmlns:a16="http://schemas.microsoft.com/office/drawing/2014/main" val="147153817"/>
                  </a:ext>
                </a:extLst>
              </a:tr>
              <a:tr h="162921">
                <a:tc rowSpan="2">
                  <a:txBody>
                    <a:bodyPr/>
                    <a:lstStyle/>
                    <a:p>
                      <a:pPr algn="l" fontAlgn="t"/>
                      <a:r>
                        <a:rPr lang="fr-FR" sz="1000" u="sng" strike="noStrike">
                          <a:effectLst/>
                          <a:hlinkClick r:id="rId2"/>
                        </a:rPr>
                        <a:t>[31]</a:t>
                      </a:r>
                      <a:endParaRPr lang="fr-FR" sz="10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88" marR="6788" marT="6788" marB="0"/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DCNN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PH2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95.00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93.00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95.00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extLst>
                  <a:ext uri="{0D108BD9-81ED-4DB2-BD59-A6C34878D82A}">
                    <a16:rowId xmlns:a16="http://schemas.microsoft.com/office/drawing/2014/main" val="3333079713"/>
                  </a:ext>
                </a:extLst>
              </a:tr>
              <a:tr h="312264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ISIC 2017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95.00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97.00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96.00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extLst>
                  <a:ext uri="{0D108BD9-81ED-4DB2-BD59-A6C34878D82A}">
                    <a16:rowId xmlns:a16="http://schemas.microsoft.com/office/drawing/2014/main" val="4206405823"/>
                  </a:ext>
                </a:extLst>
              </a:tr>
              <a:tr h="162921"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sng" strike="noStrike">
                          <a:effectLst/>
                          <a:hlinkClick r:id="rId3"/>
                        </a:rPr>
                        <a:t>[28]</a:t>
                      </a:r>
                      <a:endParaRPr lang="fr-FR" sz="10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AlexNet, VGG16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PH2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97.50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100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96.87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extLst>
                  <a:ext uri="{0D108BD9-81ED-4DB2-BD59-A6C34878D82A}">
                    <a16:rowId xmlns:a16="http://schemas.microsoft.com/office/drawing/2014/main" val="1407390424"/>
                  </a:ext>
                </a:extLst>
              </a:tr>
              <a:tr h="454820"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sng" strike="noStrike">
                          <a:effectLst/>
                          <a:hlinkClick r:id="rId4"/>
                        </a:rPr>
                        <a:t>[32]</a:t>
                      </a:r>
                      <a:endParaRPr lang="fr-FR" sz="10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FCNs based on VGG16 and GoogleNet</a:t>
                      </a:r>
                      <a:endParaRPr lang="en-US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ISBI 2016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88.92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69.33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93.75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extLst>
                  <a:ext uri="{0D108BD9-81ED-4DB2-BD59-A6C34878D82A}">
                    <a16:rowId xmlns:a16="http://schemas.microsoft.com/office/drawing/2014/main" val="4058189588"/>
                  </a:ext>
                </a:extLst>
              </a:tr>
              <a:tr h="454820"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sng" strike="noStrike">
                          <a:effectLst/>
                          <a:hlinkClick r:id="rId5"/>
                        </a:rPr>
                        <a:t>[33]</a:t>
                      </a:r>
                      <a:endParaRPr lang="fr-FR" sz="10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Deep RCNN and Fuzzy C-Mean Clustering</a:t>
                      </a:r>
                      <a:endParaRPr lang="en-US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ISBI 2016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94.20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95.00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94.00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extLst>
                  <a:ext uri="{0D108BD9-81ED-4DB2-BD59-A6C34878D82A}">
                    <a16:rowId xmlns:a16="http://schemas.microsoft.com/office/drawing/2014/main" val="369395622"/>
                  </a:ext>
                </a:extLst>
              </a:tr>
              <a:tr h="312264"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sng" strike="noStrike">
                          <a:effectLst/>
                          <a:hlinkClick r:id="rId6"/>
                        </a:rPr>
                        <a:t>[34]</a:t>
                      </a:r>
                      <a:endParaRPr lang="fr-FR" sz="10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DenseNet with IcNR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ISBI 2017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93.40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93.00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–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extLst>
                  <a:ext uri="{0D108BD9-81ED-4DB2-BD59-A6C34878D82A}">
                    <a16:rowId xmlns:a16="http://schemas.microsoft.com/office/drawing/2014/main" val="1230290505"/>
                  </a:ext>
                </a:extLst>
              </a:tr>
              <a:tr h="468397"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sng" strike="noStrike">
                          <a:effectLst/>
                          <a:hlinkClick r:id="rId7"/>
                        </a:rPr>
                        <a:t>[35]</a:t>
                      </a:r>
                      <a:endParaRPr lang="fr-FR" sz="10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Optimized CNN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DermIS + Dermquest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93.00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99.40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94.00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extLst>
                  <a:ext uri="{0D108BD9-81ED-4DB2-BD59-A6C34878D82A}">
                    <a16:rowId xmlns:a16="http://schemas.microsoft.com/office/drawing/2014/main" val="228671119"/>
                  </a:ext>
                </a:extLst>
              </a:tr>
              <a:tr h="468397"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sng" strike="noStrike">
                          <a:effectLst/>
                          <a:hlinkClick r:id="rId7"/>
                        </a:rPr>
                        <a:t>[35]</a:t>
                      </a:r>
                      <a:endParaRPr lang="fr-FR" sz="10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effectLst/>
                        </a:rPr>
                        <a:t>Transfer learning and pre-trained deep neural net</a:t>
                      </a:r>
                      <a:endParaRPr lang="en-US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MED-NODE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97.70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97.30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97.40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extLst>
                  <a:ext uri="{0D108BD9-81ED-4DB2-BD59-A6C34878D82A}">
                    <a16:rowId xmlns:a16="http://schemas.microsoft.com/office/drawing/2014/main" val="4023060381"/>
                  </a:ext>
                </a:extLst>
              </a:tr>
              <a:tr h="312264"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sng" strike="noStrike">
                          <a:effectLst/>
                          <a:hlinkClick r:id="rId8"/>
                        </a:rPr>
                        <a:t>[36]</a:t>
                      </a:r>
                      <a:endParaRPr lang="fr-FR" sz="10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Ensemble–ResNet and Inception V3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ISBI 2018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89.00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86.20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79.60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extLst>
                  <a:ext uri="{0D108BD9-81ED-4DB2-BD59-A6C34878D82A}">
                    <a16:rowId xmlns:a16="http://schemas.microsoft.com/office/drawing/2014/main" val="2732345796"/>
                  </a:ext>
                </a:extLst>
              </a:tr>
              <a:tr h="312264"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sng" strike="noStrike">
                          <a:effectLst/>
                          <a:hlinkClick r:id="rId9"/>
                        </a:rPr>
                        <a:t>[22]</a:t>
                      </a:r>
                      <a:endParaRPr lang="fr-FR" sz="10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LDA with CNN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ISBI 2017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85.80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52.00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97.40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extLst>
                  <a:ext uri="{0D108BD9-81ED-4DB2-BD59-A6C34878D82A}">
                    <a16:rowId xmlns:a16="http://schemas.microsoft.com/office/drawing/2014/main" val="3614342990"/>
                  </a:ext>
                </a:extLst>
              </a:tr>
              <a:tr h="454820"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sng" strike="noStrike">
                          <a:effectLst/>
                          <a:hlinkClick r:id="rId10"/>
                        </a:rPr>
                        <a:t>[37]</a:t>
                      </a:r>
                      <a:endParaRPr lang="fr-FR" sz="1000" b="0" i="0" u="sng" strike="noStrike">
                        <a:solidFill>
                          <a:srgbClr val="0563C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CNN and Novel Regularizer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ISIC Archive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97.49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>
                          <a:effectLst/>
                        </a:rPr>
                        <a:t>94.30</a:t>
                      </a:r>
                      <a:endParaRPr lang="fr-FR" sz="1000" b="0" i="0" u="none" strike="noStrike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000" u="none" strike="noStrike" dirty="0">
                          <a:effectLst/>
                        </a:rPr>
                        <a:t>93.60</a:t>
                      </a:r>
                      <a:endParaRPr lang="fr-FR" sz="1000" b="0" i="0" u="none" strike="noStrike" dirty="0">
                        <a:solidFill>
                          <a:srgbClr val="1F1F1F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788" marR="6788" marT="6788" marB="0"/>
                </a:tc>
                <a:extLst>
                  <a:ext uri="{0D108BD9-81ED-4DB2-BD59-A6C34878D82A}">
                    <a16:rowId xmlns:a16="http://schemas.microsoft.com/office/drawing/2014/main" val="419366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27022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1499</TotalTime>
  <Words>247</Words>
  <Application>Microsoft Office PowerPoint</Application>
  <PresentationFormat>Grand écran</PresentationFormat>
  <Paragraphs>121</Paragraphs>
  <Slides>4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Wingdings</vt:lpstr>
      <vt:lpstr>Thème Office</vt:lpstr>
      <vt:lpstr>Classification approaches</vt:lpstr>
      <vt:lpstr>Classification approaches SOA TABLEAU COMPARATIVE</vt:lpstr>
      <vt:lpstr>Deeplearning vs traditional AI </vt:lpstr>
      <vt:lpstr>Comparaison de 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 approaches</dc:title>
  <dc:creator>User</dc:creator>
  <cp:lastModifiedBy>Abdelkrim hammimou</cp:lastModifiedBy>
  <cp:revision>37</cp:revision>
  <dcterms:created xsi:type="dcterms:W3CDTF">2024-02-06T20:30:52Z</dcterms:created>
  <dcterms:modified xsi:type="dcterms:W3CDTF">2025-12-04T21:01:55Z</dcterms:modified>
</cp:coreProperties>
</file>